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59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B31B1B"/>
    <a:srgbClr val="FFFFF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70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FE6F4C-C2B6-0645-C225-EC088E5311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CC298-7ACC-62EC-0B0A-15A7DA9D25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C63CA-928D-4F87-BFF4-0C9AAF5D886E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69027-C657-95CE-EA3B-BE1EEB03E7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0EDDF-F26C-70BA-58CE-66120B3A3C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EB7C3-2580-4529-A5A5-EEC803F3C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6546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76DE2-0A2A-4509-BB53-BC12DF9F6EC1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790EE-944A-4ECB-AF6E-53F632702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773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584B-1234-E59B-C7B8-C1EF99535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4254A-B8A0-0393-2B57-336F9080B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B8F5A-D2A1-2B28-E8E0-0C149046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AF57-FB76-4746-B275-BBE120E15F1F}" type="datetime1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70411-34F8-7754-2A6E-DA4364DC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1FD78-974F-8039-53FE-08A4B09F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0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ABB1-0260-D364-9A24-3675427C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F6D20-AE1F-BB41-D20B-520D92301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BDF6E-3355-58CA-28C2-B523C418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07A7-E271-4778-BBC7-947CE31E83C1}" type="datetime1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649F5-8702-ADB2-BA38-94765B3C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14DFE-849C-46CA-8054-4607507C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1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1A3E-EB9B-307A-20D4-85510345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F8CFE-BA35-D86C-5ED8-D818723AF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761DB-8588-4105-8ACA-D5662621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D2C-CA28-420A-9FCA-A3314E219AD8}" type="datetime1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C237-BBFC-792D-D9D3-5187D3DC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BE706-852A-CEFF-DC72-C328C963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20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4EE6-859C-EB9E-347B-4A78C6A3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9B31A-CC33-8446-DD9C-29F6A7D3D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64117-A628-2E2E-F77A-3CBDB0E3A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06290-DD9C-20C4-53A2-D359B640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3FAD0-4C18-4A01-A9E9-5C8B5B868DB5}" type="datetime1">
              <a:rPr lang="en-US" smtClean="0"/>
              <a:t>2026-02-03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C509E-8D63-5F30-C659-DB4F4D0D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3C225-3D89-5497-9874-F9A9C37B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AFB8-E565-9322-C12B-60F2EDBB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9B4EF-FEAB-64B2-FCAA-2D695241E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F5742-C0CC-A5F7-BD3D-AA5685169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D4B10-6814-6A0E-5908-841A67183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41E6A-591C-9B4A-1070-47CC153F0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66380-780A-1351-ED0E-E71DEE60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C090-B2C0-48D9-B96F-0CC76FF45090}" type="datetime1">
              <a:rPr lang="en-US" smtClean="0"/>
              <a:t>2026-02-03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4BC3F-2559-9752-5F41-767D25BD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3DC005-168B-3BC9-5988-3B932757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9C99-F4B1-9221-00C6-0AEA61FF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82001-D379-AC19-A3E8-407C579B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C7524-14F7-49EA-8EE5-F34E7517E0B2}" type="datetime1">
              <a:rPr lang="en-US" smtClean="0"/>
              <a:t>2026-02-03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482F7-71EE-26D0-4069-BB74209B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F3B85-0470-33E1-A1B6-6C782DC4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5C782-30C3-1DAD-D32A-20DF9C58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8CEB-A0C4-4463-8CE2-B5C215F10B23}" type="datetime1">
              <a:rPr lang="en-US" smtClean="0"/>
              <a:t>2026-02-03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B1027-B77F-269A-34A8-B5309A68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4C2C7-24CB-6A0F-92D1-DDCE0AFC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3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C93A-78A1-D4BA-67A0-776213D0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B995-8352-0D5A-20FC-98FC65349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FE569-609B-F344-958D-00D1B2A70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8A585-49E6-4F52-FD57-9301198D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8C9E-A623-4E33-8F05-8457CB25039A}" type="datetime1">
              <a:rPr lang="en-US" smtClean="0"/>
              <a:t>2026-02-03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87C46-D898-8066-AB4C-15B0CD65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A131E-487E-27E1-0103-9EEEA006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3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4F05-B804-38C1-EB31-F9DFB434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B89D2-9FC9-17AC-E4CA-500241DD6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0C6E3-3B7B-9A8A-5263-2B0BB99BB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0E900-82ED-E017-92AE-E4776C90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F9E6-6BD3-4399-8D6C-83E78671D086}" type="datetime1">
              <a:rPr lang="en-US" smtClean="0"/>
              <a:t>2026-02-03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B11A2-894F-A8E5-FC65-8E1E1A8E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D21D6-F3FE-E39E-D311-94C57962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9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A5F3-3272-FD5A-B519-AA6F47F9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A0567-8A54-5A7A-6766-D271F101C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7B096-103D-59FA-2371-BD103883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8244-EF44-409A-9E28-DF4D9A5B5744}" type="datetime1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8E4FF-5774-9140-2B6D-AFEBAAE6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C6DC9-AE45-229D-DB69-9C093069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8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2DF68-98A4-ABB5-504B-B91BCF45D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0D162-741A-23EF-9DED-DC822CF19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D93A5-91CB-9949-EC3E-40DA1ABC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FC4DA-1EC2-4C1E-8D3B-87C53C877169}" type="datetime1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534A-A029-3389-DD40-292833C4C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8FBE8-B958-83E7-FD84-4BD1C8EF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0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F880D-3A5C-D29C-19FD-BA09CF6F0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C97ED-58E0-680B-E2B5-31AA5EF80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D4C89-AECC-9982-D968-FE9551576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ABA33-1AAF-4743-AC67-9C40ED5B4260}" type="datetime1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1AD96-F279-6E0D-68BA-2BD1F8F56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8F28-8F77-F600-C765-C17F1AD71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01BC33-AD4A-E6E2-0290-F5561ACEEC6E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/>
              <a:t>DS-19</a:t>
            </a:r>
          </a:p>
          <a:p>
            <a:pPr algn="ctr"/>
            <a:r>
              <a:rPr lang="ru-RU" sz="1900" dirty="0"/>
              <a:t>Москва, 2026</a:t>
            </a: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4EDCE6-D8AA-FD75-17BE-5A4DAC1EB7DD}"/>
              </a:ext>
            </a:extLst>
          </p:cNvPr>
          <p:cNvSpPr/>
          <p:nvPr/>
        </p:nvSpPr>
        <p:spPr>
          <a:xfrm>
            <a:off x="0" y="688157"/>
            <a:ext cx="12192000" cy="1093509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C7EEE-5708-2989-23CC-57CFE5674498}"/>
              </a:ext>
            </a:extLst>
          </p:cNvPr>
          <p:cNvSpPr txBox="1"/>
          <p:nvPr/>
        </p:nvSpPr>
        <p:spPr>
          <a:xfrm>
            <a:off x="2253473" y="942523"/>
            <a:ext cx="7685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arXiv Info System: RAG </a:t>
            </a:r>
            <a:r>
              <a:rPr lang="ru-RU" sz="3200" dirty="0">
                <a:solidFill>
                  <a:srgbClr val="FFFFFF"/>
                </a:solidFill>
              </a:rPr>
              <a:t>на корпусе </a:t>
            </a:r>
            <a:r>
              <a:rPr lang="en-US" sz="3200" dirty="0">
                <a:solidFill>
                  <a:srgbClr val="FFFFFF"/>
                </a:solidFill>
              </a:rPr>
              <a:t>arxiv.org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B020A9-F431-EA5F-6138-E064EB7A5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2" y="134695"/>
            <a:ext cx="3540629" cy="4187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AABC335-5B9C-C1AC-9C88-052BF0CC2383}"/>
              </a:ext>
            </a:extLst>
          </p:cNvPr>
          <p:cNvSpPr txBox="1"/>
          <p:nvPr/>
        </p:nvSpPr>
        <p:spPr>
          <a:xfrm>
            <a:off x="8235696" y="-2"/>
            <a:ext cx="39563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dirty="0">
                <a:solidFill>
                  <a:schemeClr val="bg1"/>
                </a:solidFill>
              </a:rPr>
              <a:t>Выполнил: Константин Демидов</a:t>
            </a:r>
            <a:br>
              <a:rPr lang="ru-RU" sz="1900" dirty="0">
                <a:solidFill>
                  <a:schemeClr val="bg1"/>
                </a:solidFill>
              </a:rPr>
            </a:br>
            <a:r>
              <a:rPr lang="ru-RU" sz="1900" dirty="0">
                <a:solidFill>
                  <a:schemeClr val="bg1"/>
                </a:solidFill>
              </a:rPr>
              <a:t>Руководитель: Евгений Паточенко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146863-1039-0A96-62F2-20BEAF1EFBB3}"/>
              </a:ext>
            </a:extLst>
          </p:cNvPr>
          <p:cNvSpPr/>
          <p:nvPr/>
        </p:nvSpPr>
        <p:spPr>
          <a:xfrm>
            <a:off x="4829980" y="58330"/>
            <a:ext cx="7112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C5D07A-73E7-E772-EA34-D266A2014F63}"/>
              </a:ext>
            </a:extLst>
          </p:cNvPr>
          <p:cNvSpPr/>
          <p:nvPr/>
        </p:nvSpPr>
        <p:spPr>
          <a:xfrm>
            <a:off x="7146162" y="58328"/>
            <a:ext cx="7112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2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93D4-CABC-7BBE-C4EB-23CFB4C49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E9977-AD04-95DE-2705-942ED7F8F507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Зачем всё это?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DDE782-A399-BD94-A884-0FFD98276CF4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61FD0D-9EEE-3335-A351-0C49B083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2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A7FDE-BAE5-81CB-D847-5D812A01B432}"/>
              </a:ext>
            </a:extLst>
          </p:cNvPr>
          <p:cNvSpPr txBox="1"/>
          <p:nvPr/>
        </p:nvSpPr>
        <p:spPr>
          <a:xfrm>
            <a:off x="548640" y="1881317"/>
            <a:ext cx="113295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 Иллюстрация «информационного взрыва» — гора PDF-иконок или график роста количества публикаций.</a:t>
            </a:r>
          </a:p>
          <a:p>
            <a:endParaRPr lang="ru-RU" dirty="0"/>
          </a:p>
          <a:p>
            <a:r>
              <a:rPr lang="ru-RU" dirty="0"/>
              <a:t>Текст: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17 081</a:t>
            </a:r>
            <a:r>
              <a:rPr lang="ru-RU" dirty="0"/>
              <a:t> научных статей в категории cs.CL только за 2025 год.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Проблема: Невозможность ручного мониторинга такого объема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Решение: Мгновенный поиск ответов по свежему научному корпусу.</a:t>
            </a:r>
          </a:p>
        </p:txBody>
      </p:sp>
    </p:spTree>
    <p:extLst>
      <p:ext uri="{BB962C8B-B14F-4D97-AF65-F5344CB8AC3E}">
        <p14:creationId xmlns:p14="http://schemas.microsoft.com/office/powerpoint/2010/main" val="768313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8F3F8-BB1F-6E3F-2FB0-A692F7C3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0C2528-4BAF-CFAE-4D42-0DE293B997C0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Какие данные используем?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32D7A1-E7E5-8C31-B2A0-301FABC556EF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055B49-5304-3954-0256-B7551A34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3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51274-CAE1-9EC1-6A04-FA4D02A05E60}"/>
              </a:ext>
            </a:extLst>
          </p:cNvPr>
          <p:cNvSpPr txBox="1"/>
          <p:nvPr/>
        </p:nvSpPr>
        <p:spPr>
          <a:xfrm>
            <a:off x="3801013" y="2551837"/>
            <a:ext cx="45899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Логотипы </a:t>
            </a:r>
            <a:r>
              <a:rPr lang="ru-RU" b="1" dirty="0"/>
              <a:t>arXiv.org</a:t>
            </a:r>
            <a:r>
              <a:rPr lang="ru-RU" dirty="0"/>
              <a:t> и иконка базы данных.</a:t>
            </a:r>
          </a:p>
          <a:p>
            <a:r>
              <a:rPr lang="ru-RU" dirty="0"/>
              <a:t>Текст:</a:t>
            </a:r>
          </a:p>
          <a:p>
            <a:r>
              <a:rPr lang="ru-RU" dirty="0"/>
              <a:t>Источник: Официальный </a:t>
            </a:r>
            <a:r>
              <a:rPr lang="en-US" dirty="0"/>
              <a:t>API </a:t>
            </a:r>
            <a:r>
              <a:rPr lang="en-US" dirty="0" err="1"/>
              <a:t>ArXiv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Категория</a:t>
            </a:r>
            <a:r>
              <a:rPr lang="en-US" dirty="0"/>
              <a:t>: Computation and Language (cs.CL).</a:t>
            </a:r>
            <a:endParaRPr lang="ru-RU" dirty="0"/>
          </a:p>
          <a:p>
            <a:r>
              <a:rPr lang="ru-RU" dirty="0"/>
              <a:t>Период: Весь 2025 год (январь–декабрь).</a:t>
            </a:r>
          </a:p>
        </p:txBody>
      </p:sp>
    </p:spTree>
    <p:extLst>
      <p:ext uri="{BB962C8B-B14F-4D97-AF65-F5344CB8AC3E}">
        <p14:creationId xmlns:p14="http://schemas.microsoft.com/office/powerpoint/2010/main" val="295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78FD-C71C-5992-580B-06313E58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E7DB20-0EF9-2E79-BF52-304B8C08D058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Предобработка данных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ABFB2E-C2ED-E8AC-642D-D8F0F0AFAB91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93EAB2-CDA0-2FF5-57DD-2FFE800C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4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51BF9-D271-38E0-C8B0-C6CB16AAFA66}"/>
              </a:ext>
            </a:extLst>
          </p:cNvPr>
          <p:cNvSpPr txBox="1"/>
          <p:nvPr/>
        </p:nvSpPr>
        <p:spPr>
          <a:xfrm>
            <a:off x="2688650" y="2702666"/>
            <a:ext cx="73719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Схема-конвейер: </a:t>
            </a:r>
            <a:r>
              <a:rPr lang="en-US" dirty="0"/>
              <a:t>HTML -&gt; Cleaner -&gt; Markdown.</a:t>
            </a:r>
            <a:r>
              <a:rPr lang="ru-RU" dirty="0"/>
              <a:t>Текст:</a:t>
            </a:r>
          </a:p>
          <a:p>
            <a:r>
              <a:rPr lang="ru-RU" dirty="0"/>
              <a:t>Источник: </a:t>
            </a:r>
          </a:p>
          <a:p>
            <a:endParaRPr lang="ru-RU" dirty="0"/>
          </a:p>
          <a:p>
            <a:r>
              <a:rPr lang="ru-RU" dirty="0"/>
              <a:t>Очистка от «шума»: удаление списков литературы и благодарностей.</a:t>
            </a:r>
          </a:p>
          <a:p>
            <a:r>
              <a:rPr lang="ru-RU" dirty="0"/>
              <a:t>Сохранение математики: формулы остаются в формате </a:t>
            </a:r>
            <a:r>
              <a:rPr lang="ru-RU" dirty="0" err="1"/>
              <a:t>LaTeX</a:t>
            </a:r>
            <a:r>
              <a:rPr lang="ru-RU" dirty="0"/>
              <a:t>.</a:t>
            </a:r>
          </a:p>
          <a:p>
            <a:r>
              <a:rPr lang="ru-RU" dirty="0"/>
              <a:t>Конвертация: HTML в чистый </a:t>
            </a:r>
            <a:r>
              <a:rPr lang="ru-RU" dirty="0" err="1"/>
              <a:t>Markdown</a:t>
            </a:r>
            <a:r>
              <a:rPr lang="ru-RU" dirty="0"/>
              <a:t> для лучшей интерпретации LLM.</a:t>
            </a:r>
          </a:p>
        </p:txBody>
      </p:sp>
    </p:spTree>
    <p:extLst>
      <p:ext uri="{BB962C8B-B14F-4D97-AF65-F5344CB8AC3E}">
        <p14:creationId xmlns:p14="http://schemas.microsoft.com/office/powerpoint/2010/main" val="248622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07F7F-12B3-82F6-B5D5-6F09083B6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FDE085-0E97-60A2-7531-C0BB37A79494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Чанкование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65B33F-296C-C6AC-94D2-BB4BD4F0CD20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90B24B-C0C1-746A-5611-07567C15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5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AE7E3-70E7-270C-54DD-8A839B525039}"/>
              </a:ext>
            </a:extLst>
          </p:cNvPr>
          <p:cNvSpPr txBox="1"/>
          <p:nvPr/>
        </p:nvSpPr>
        <p:spPr>
          <a:xfrm>
            <a:off x="875543" y="2413337"/>
            <a:ext cx="111090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Иллюстрация документа, разрезаемого на смысловые блоки.</a:t>
            </a:r>
          </a:p>
          <a:p>
            <a:endParaRPr lang="ru-RU" dirty="0"/>
          </a:p>
          <a:p>
            <a:r>
              <a:rPr lang="ru-RU" dirty="0"/>
              <a:t>Текст:</a:t>
            </a:r>
          </a:p>
          <a:p>
            <a:r>
              <a:rPr lang="ru-RU" b="1" dirty="0"/>
              <a:t>Двухэтапный подход:</a:t>
            </a:r>
            <a:r>
              <a:rPr lang="ru-RU" dirty="0"/>
              <a:t> Сначала логическая нарезка по заголовкам </a:t>
            </a:r>
            <a:r>
              <a:rPr lang="ru-RU" dirty="0" err="1"/>
              <a:t>Markdown</a:t>
            </a:r>
            <a:r>
              <a:rPr lang="ru-RU" dirty="0"/>
              <a:t>, затем рекурсивная по символам.</a:t>
            </a:r>
          </a:p>
          <a:p>
            <a:r>
              <a:rPr lang="ru-RU" dirty="0"/>
              <a:t>Размер </a:t>
            </a:r>
            <a:r>
              <a:rPr lang="ru-RU" dirty="0" err="1"/>
              <a:t>чанка</a:t>
            </a:r>
            <a:r>
              <a:rPr lang="ru-RU" dirty="0"/>
              <a:t>: </a:t>
            </a:r>
            <a:r>
              <a:rPr lang="ru-RU" b="1" dirty="0"/>
              <a:t>512 токенов</a:t>
            </a:r>
            <a:r>
              <a:rPr lang="ru-RU" dirty="0"/>
              <a:t> с перекрытием в 64.</a:t>
            </a:r>
          </a:p>
          <a:p>
            <a:r>
              <a:rPr lang="ru-RU" dirty="0"/>
              <a:t>Результат: </a:t>
            </a:r>
            <a:r>
              <a:rPr lang="ru-RU" b="1" dirty="0"/>
              <a:t>767 801</a:t>
            </a:r>
            <a:r>
              <a:rPr lang="ru-RU" dirty="0"/>
              <a:t> </a:t>
            </a:r>
            <a:r>
              <a:rPr lang="ru-RU" dirty="0" err="1"/>
              <a:t>чанков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614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DF09-A904-DD09-AF21-FF396270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BA190DD-1BD7-CA00-FD7C-8845F6928ED7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Векторизация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1F83F8-F620-2D15-ADA6-24AC55178558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683E80-AF34-C154-01BE-B5341BC9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6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6264C-B0D7-0D43-A1D8-A01EA51618AE}"/>
              </a:ext>
            </a:extLst>
          </p:cNvPr>
          <p:cNvSpPr txBox="1"/>
          <p:nvPr/>
        </p:nvSpPr>
        <p:spPr>
          <a:xfrm>
            <a:off x="875543" y="2413337"/>
            <a:ext cx="54384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Схема «Текст -&gt; Нейросеть -&gt; Вектор [0.12, -0.5, ...]».</a:t>
            </a:r>
          </a:p>
          <a:p>
            <a:endParaRPr lang="ru-RU" dirty="0"/>
          </a:p>
          <a:p>
            <a:r>
              <a:rPr lang="ru-RU" dirty="0"/>
              <a:t>Текст:</a:t>
            </a:r>
          </a:p>
          <a:p>
            <a:r>
              <a:rPr lang="ru-RU" dirty="0"/>
              <a:t>Модель </a:t>
            </a:r>
            <a:r>
              <a:rPr lang="ru-RU" dirty="0" err="1"/>
              <a:t>эмбеддингов</a:t>
            </a:r>
            <a:r>
              <a:rPr lang="ru-RU" dirty="0"/>
              <a:t>: </a:t>
            </a:r>
            <a:r>
              <a:rPr lang="en-US" dirty="0"/>
              <a:t>Qwen/Qwen3-Embedding-0.6B.</a:t>
            </a:r>
            <a:endParaRPr lang="ru-RU" dirty="0"/>
          </a:p>
          <a:p>
            <a:r>
              <a:rPr lang="ru-RU" dirty="0"/>
              <a:t>Метод: </a:t>
            </a:r>
            <a:r>
              <a:rPr lang="en-US" dirty="0"/>
              <a:t>Dense Vector Search (</a:t>
            </a:r>
            <a:r>
              <a:rPr lang="ru-RU" dirty="0"/>
              <a:t>Косинусное сходство).</a:t>
            </a:r>
          </a:p>
          <a:p>
            <a:r>
              <a:rPr lang="ru-RU" dirty="0"/>
              <a:t>Оптимизация: Обработка </a:t>
            </a:r>
            <a:r>
              <a:rPr lang="ru-RU" dirty="0" err="1"/>
              <a:t>батчами</a:t>
            </a:r>
            <a:r>
              <a:rPr lang="ru-RU" dirty="0"/>
              <a:t> на GPU.</a:t>
            </a:r>
          </a:p>
        </p:txBody>
      </p:sp>
    </p:spTree>
    <p:extLst>
      <p:ext uri="{BB962C8B-B14F-4D97-AF65-F5344CB8AC3E}">
        <p14:creationId xmlns:p14="http://schemas.microsoft.com/office/powerpoint/2010/main" val="319574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AC52-1C30-135F-8354-BC88919F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595065-ABD3-F0CB-1699-62DDC42A1E5C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Как храним данные?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11B823-CF69-0C1E-D1CE-2811B4815B0A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92AE8-5B17-1841-0A6C-1EF1AACE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7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32C37-B21D-966B-43B7-A1B9948A1A1A}"/>
              </a:ext>
            </a:extLst>
          </p:cNvPr>
          <p:cNvSpPr txBox="1"/>
          <p:nvPr/>
        </p:nvSpPr>
        <p:spPr>
          <a:xfrm>
            <a:off x="2999960" y="2413337"/>
            <a:ext cx="61920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Логотип </a:t>
            </a:r>
            <a:r>
              <a:rPr lang="ru-RU" b="1" dirty="0" err="1"/>
              <a:t>Qdrant</a:t>
            </a:r>
            <a:r>
              <a:rPr lang="ru-RU" dirty="0"/>
              <a:t> и иконка облачного хранилища </a:t>
            </a:r>
            <a:r>
              <a:rPr lang="ru-RU" b="1" dirty="0"/>
              <a:t>S3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Текст:</a:t>
            </a:r>
          </a:p>
          <a:p>
            <a:r>
              <a:rPr lang="ru-RU" dirty="0"/>
              <a:t>Векторная БД: </a:t>
            </a:r>
            <a:r>
              <a:rPr lang="ru-RU" b="1" dirty="0" err="1"/>
              <a:t>Qdrant</a:t>
            </a:r>
            <a:r>
              <a:rPr lang="ru-RU" dirty="0"/>
              <a:t> в </a:t>
            </a:r>
            <a:r>
              <a:rPr lang="ru-RU" dirty="0" err="1"/>
              <a:t>Docker</a:t>
            </a:r>
            <a:r>
              <a:rPr lang="ru-RU" dirty="0"/>
              <a:t>-контейнере.</a:t>
            </a:r>
          </a:p>
          <a:p>
            <a:r>
              <a:rPr lang="ru-RU" dirty="0" err="1"/>
              <a:t>DataOps</a:t>
            </a:r>
            <a:r>
              <a:rPr lang="ru-RU" dirty="0"/>
              <a:t>: </a:t>
            </a:r>
            <a:r>
              <a:rPr lang="ru-RU" dirty="0" err="1"/>
              <a:t>Версионирование</a:t>
            </a:r>
            <a:r>
              <a:rPr lang="ru-RU" dirty="0"/>
              <a:t> данных через </a:t>
            </a:r>
            <a:r>
              <a:rPr lang="ru-RU" b="1" dirty="0"/>
              <a:t>DVC</a:t>
            </a:r>
            <a:r>
              <a:rPr lang="ru-RU" dirty="0"/>
              <a:t>.</a:t>
            </a:r>
          </a:p>
          <a:p>
            <a:r>
              <a:rPr lang="ru-RU" dirty="0"/>
              <a:t>Storage: Удаленное хранилище </a:t>
            </a:r>
            <a:r>
              <a:rPr lang="ru-RU" b="1" dirty="0"/>
              <a:t>S3</a:t>
            </a:r>
            <a:r>
              <a:rPr lang="ru-RU" dirty="0"/>
              <a:t> для </a:t>
            </a:r>
            <a:r>
              <a:rPr lang="ru-RU" dirty="0" err="1"/>
              <a:t>снапшотов</a:t>
            </a:r>
            <a:r>
              <a:rPr lang="ru-RU" dirty="0"/>
              <a:t> коллекции.</a:t>
            </a:r>
          </a:p>
        </p:txBody>
      </p:sp>
    </p:spTree>
    <p:extLst>
      <p:ext uri="{BB962C8B-B14F-4D97-AF65-F5344CB8AC3E}">
        <p14:creationId xmlns:p14="http://schemas.microsoft.com/office/powerpoint/2010/main" val="379814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7159-2930-90EE-2B35-A7A559A4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7329F1-E32E-5EE6-2CEC-6EC8716481D4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Общая картина архитектуры проекта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DBA3B8-A13A-5AD9-B6E7-1C4CE88FA3E4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ABF4A-43A6-DF56-5433-58ECC7A3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8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7D86C-9444-1FFF-95E3-06DA18D02D9B}"/>
              </a:ext>
            </a:extLst>
          </p:cNvPr>
          <p:cNvSpPr txBox="1"/>
          <p:nvPr/>
        </p:nvSpPr>
        <p:spPr>
          <a:xfrm>
            <a:off x="1171160" y="2460471"/>
            <a:ext cx="103575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Блок-схема взаимодействия микросервисов: </a:t>
            </a:r>
            <a:r>
              <a:rPr lang="en-US" dirty="0"/>
              <a:t>Frontend (</a:t>
            </a:r>
            <a:r>
              <a:rPr lang="en-US" dirty="0" err="1"/>
              <a:t>Streamlit</a:t>
            </a:r>
            <a:r>
              <a:rPr lang="en-US" dirty="0"/>
              <a:t>) &lt;-&gt; Backend (</a:t>
            </a:r>
            <a:r>
              <a:rPr lang="en-US" dirty="0" err="1"/>
              <a:t>FastAPI</a:t>
            </a:r>
            <a:r>
              <a:rPr lang="en-US" dirty="0"/>
              <a:t>) &lt;-&gt; </a:t>
            </a:r>
            <a:r>
              <a:rPr lang="en-US" dirty="0" err="1"/>
              <a:t>Qdrant</a:t>
            </a:r>
            <a:r>
              <a:rPr lang="en-US" dirty="0"/>
              <a:t> / LLM.</a:t>
            </a:r>
            <a:endParaRPr lang="ru-RU" dirty="0"/>
          </a:p>
          <a:p>
            <a:endParaRPr lang="ru-RU" dirty="0"/>
          </a:p>
          <a:p>
            <a:r>
              <a:rPr lang="ru-RU" dirty="0"/>
              <a:t>Текст:</a:t>
            </a:r>
          </a:p>
          <a:p>
            <a:r>
              <a:rPr lang="ru-RU" dirty="0" err="1"/>
              <a:t>Оркестрация</a:t>
            </a:r>
            <a:r>
              <a:rPr lang="ru-RU" dirty="0"/>
              <a:t>: </a:t>
            </a:r>
            <a:r>
              <a:rPr lang="en-US" b="1" dirty="0"/>
              <a:t>Docker Compose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Связь: Асинхронные запросы через </a:t>
            </a:r>
            <a:r>
              <a:rPr lang="ru-RU" dirty="0" err="1"/>
              <a:t>FastAPI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80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5728-26B6-D764-94C9-66137016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1D96A2-4C66-C568-43CB-09CA841D0915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Запускаем </a:t>
            </a:r>
            <a:r>
              <a:rPr lang="en-US" sz="3200" dirty="0"/>
              <a:t>RAG!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86F492E-43BE-8E92-6719-F7CBEC5A6B2F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8953F-CEE9-9F4C-E3A3-2B4AEB4C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9</a:t>
            </a:fld>
            <a:endParaRPr lang="en-US" sz="24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4D6CB9-0982-C52A-0E2C-8034D28E6B73}"/>
              </a:ext>
            </a:extLst>
          </p:cNvPr>
          <p:cNvSpPr txBox="1"/>
          <p:nvPr/>
        </p:nvSpPr>
        <p:spPr>
          <a:xfrm>
            <a:off x="1208867" y="2696141"/>
            <a:ext cx="94859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Скриншот интерфейса на </a:t>
            </a:r>
            <a:r>
              <a:rPr lang="ru-RU" dirty="0" err="1"/>
              <a:t>Streamlit</a:t>
            </a:r>
            <a:r>
              <a:rPr lang="ru-RU" dirty="0"/>
              <a:t> с примером ответа.</a:t>
            </a:r>
          </a:p>
          <a:p>
            <a:endParaRPr lang="ru-RU" dirty="0"/>
          </a:p>
          <a:p>
            <a:r>
              <a:rPr lang="ru-RU" dirty="0"/>
              <a:t>Текст:</a:t>
            </a:r>
          </a:p>
          <a:p>
            <a:r>
              <a:rPr lang="ru-RU" dirty="0"/>
              <a:t>Генератор: </a:t>
            </a:r>
            <a:r>
              <a:rPr lang="en-US" dirty="0"/>
              <a:t>Qwen/Qwen2.5-1.5B-Instruct.</a:t>
            </a:r>
            <a:endParaRPr lang="ru-RU" dirty="0"/>
          </a:p>
          <a:p>
            <a:r>
              <a:rPr lang="ru-RU" dirty="0"/>
              <a:t>Системный </a:t>
            </a:r>
            <a:r>
              <a:rPr lang="ru-RU" dirty="0" err="1"/>
              <a:t>промпт</a:t>
            </a:r>
            <a:r>
              <a:rPr lang="ru-RU" dirty="0"/>
              <a:t>: Роль научного ассистента с опорой </a:t>
            </a:r>
            <a:r>
              <a:rPr lang="ru-RU" i="1" dirty="0"/>
              <a:t>только</a:t>
            </a:r>
            <a:r>
              <a:rPr lang="ru-RU" dirty="0"/>
              <a:t> на предоставленный контекст.</a:t>
            </a:r>
          </a:p>
        </p:txBody>
      </p:sp>
    </p:spTree>
    <p:extLst>
      <p:ext uri="{BB962C8B-B14F-4D97-AF65-F5344CB8AC3E}">
        <p14:creationId xmlns:p14="http://schemas.microsoft.com/office/powerpoint/2010/main" val="358791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4CDF-76FC-CDD3-9256-B27182C0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BCB5BBE-E985-CE6A-2A61-F27482795358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Валидация </a:t>
            </a:r>
            <a:r>
              <a:rPr lang="en-US" sz="3200" dirty="0"/>
              <a:t>RAG</a:t>
            </a:r>
            <a:r>
              <a:rPr lang="ru-RU" sz="3200" dirty="0"/>
              <a:t>-системы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FC1B19-DC9F-7753-626D-44964B15829B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AAC85D-B76A-3BD3-B9CD-95C21A75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1600" smtClean="0">
                <a:solidFill>
                  <a:srgbClr val="222222"/>
                </a:solidFill>
              </a:rPr>
              <a:pPr algn="ctr"/>
              <a:t>10</a:t>
            </a:fld>
            <a:endParaRPr lang="en-US" sz="1600" dirty="0">
              <a:solidFill>
                <a:srgbClr val="22222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790CC-1038-CAF7-454C-069BE0086DD3}"/>
              </a:ext>
            </a:extLst>
          </p:cNvPr>
          <p:cNvSpPr txBox="1"/>
          <p:nvPr/>
        </p:nvSpPr>
        <p:spPr>
          <a:xfrm>
            <a:off x="8639175" y="6239946"/>
            <a:ext cx="3362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https://arxiv.org/abs/2309.15217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DC9CA-703C-ED8A-5B25-A5D12EDF16A2}"/>
              </a:ext>
            </a:extLst>
          </p:cNvPr>
          <p:cNvSpPr txBox="1"/>
          <p:nvPr/>
        </p:nvSpPr>
        <p:spPr>
          <a:xfrm>
            <a:off x="1887597" y="2551837"/>
            <a:ext cx="769717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Визуал:</a:t>
            </a:r>
          </a:p>
          <a:p>
            <a:r>
              <a:rPr lang="ru-RU" dirty="0"/>
              <a:t>Радарная диаграмма (</a:t>
            </a:r>
            <a:r>
              <a:rPr lang="ru-RU" dirty="0" err="1"/>
              <a:t>spider</a:t>
            </a:r>
            <a:r>
              <a:rPr lang="ru-RU" dirty="0"/>
              <a:t> </a:t>
            </a:r>
            <a:r>
              <a:rPr lang="ru-RU" dirty="0" err="1"/>
              <a:t>chart</a:t>
            </a:r>
            <a:r>
              <a:rPr lang="ru-RU" dirty="0"/>
              <a:t>) или 4 прогресс-бара с метриками RAGAS.</a:t>
            </a:r>
          </a:p>
          <a:p>
            <a:endParaRPr lang="ru-RU" dirty="0"/>
          </a:p>
          <a:p>
            <a:r>
              <a:rPr lang="ru-RU" dirty="0"/>
              <a:t>Текст:</a:t>
            </a:r>
          </a:p>
          <a:p>
            <a:r>
              <a:rPr lang="en-US" b="1" dirty="0"/>
              <a:t>Context Precision:</a:t>
            </a:r>
            <a:r>
              <a:rPr lang="en-US" dirty="0"/>
              <a:t> 0.54.</a:t>
            </a:r>
            <a:endParaRPr lang="ru-RU" dirty="0"/>
          </a:p>
          <a:p>
            <a:r>
              <a:rPr lang="en-US" b="1" dirty="0"/>
              <a:t>Context Recall:</a:t>
            </a:r>
            <a:r>
              <a:rPr lang="en-US" dirty="0"/>
              <a:t> 0.75.</a:t>
            </a:r>
            <a:endParaRPr lang="ru-RU" dirty="0"/>
          </a:p>
          <a:p>
            <a:r>
              <a:rPr lang="en-US" b="1" dirty="0"/>
              <a:t>Answer Relevancy:</a:t>
            </a:r>
            <a:r>
              <a:rPr lang="en-US" dirty="0"/>
              <a:t> 0.77.</a:t>
            </a:r>
            <a:endParaRPr lang="ru-RU" dirty="0"/>
          </a:p>
          <a:p>
            <a:r>
              <a:rPr lang="en-US" b="1" dirty="0"/>
              <a:t>Faithfulness:</a:t>
            </a:r>
            <a:r>
              <a:rPr lang="en-US" dirty="0"/>
              <a:t> 0.70.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48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A203-9264-AF20-8F10-100D9FD4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F6115D-FF31-D268-91C5-9CC6D99A86BF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Следующие шаги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34B364-113E-9A12-7B2B-C53CB05D4B93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272CEE-C0F2-F2FE-07D8-5D653DC4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1600" smtClean="0">
                <a:solidFill>
                  <a:srgbClr val="222222"/>
                </a:solidFill>
              </a:rPr>
              <a:pPr algn="ctr"/>
              <a:t>11</a:t>
            </a:fld>
            <a:endParaRPr lang="en-US" sz="1600" dirty="0">
              <a:solidFill>
                <a:srgbClr val="22222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175DA-E71E-7EDB-E893-51EBCF5FB037}"/>
              </a:ext>
            </a:extLst>
          </p:cNvPr>
          <p:cNvSpPr txBox="1"/>
          <p:nvPr/>
        </p:nvSpPr>
        <p:spPr>
          <a:xfrm>
            <a:off x="1489435" y="2804426"/>
            <a:ext cx="101400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Hybrid Search:</a:t>
            </a:r>
            <a:r>
              <a:rPr lang="ru-RU" sz="2400" dirty="0"/>
              <a:t> Внедрение разреженного поиска (BM25).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 err="1"/>
              <a:t>Reranker</a:t>
            </a:r>
            <a:r>
              <a:rPr lang="ru-RU" sz="2400" b="1" dirty="0"/>
              <a:t>:</a:t>
            </a:r>
            <a:r>
              <a:rPr lang="ru-RU" sz="2400" dirty="0"/>
              <a:t> Повышение точности выдачи через этап </a:t>
            </a:r>
            <a:r>
              <a:rPr lang="ru-RU" sz="2400" dirty="0" err="1"/>
              <a:t>переранжирования</a:t>
            </a:r>
            <a:r>
              <a:rPr lang="ru-RU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 err="1"/>
              <a:t>Reasoning</a:t>
            </a:r>
            <a:r>
              <a:rPr lang="ru-RU" sz="2400" b="1" dirty="0"/>
              <a:t>:</a:t>
            </a:r>
            <a:r>
              <a:rPr lang="ru-RU" sz="2400" dirty="0"/>
              <a:t> Интеграция рассуждающих моделей (</a:t>
            </a:r>
            <a:r>
              <a:rPr lang="ru-RU" sz="2400" dirty="0" err="1"/>
              <a:t>Reasoning</a:t>
            </a:r>
            <a:r>
              <a:rPr lang="ru-RU" sz="2400" dirty="0"/>
              <a:t> </a:t>
            </a:r>
            <a:r>
              <a:rPr lang="ru-RU" sz="2400" dirty="0" err="1"/>
              <a:t>generator</a:t>
            </a:r>
            <a:r>
              <a:rPr lang="ru-RU" sz="2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 err="1"/>
              <a:t>GraphRAG</a:t>
            </a:r>
            <a:r>
              <a:rPr lang="ru-RU" sz="2400" b="1" dirty="0"/>
              <a:t>:</a:t>
            </a:r>
            <a:r>
              <a:rPr lang="ru-RU" sz="2400" dirty="0"/>
              <a:t> Переход к </a:t>
            </a:r>
            <a:r>
              <a:rPr lang="ru-RU" sz="2400" dirty="0" err="1"/>
              <a:t>графовым</a:t>
            </a:r>
            <a:r>
              <a:rPr lang="ru-RU" sz="2400" dirty="0"/>
              <a:t> представлениям связей между статьями.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AC30F-A8BE-7CA9-4A2E-5F1E98ED8B63}"/>
              </a:ext>
            </a:extLst>
          </p:cNvPr>
          <p:cNvSpPr txBox="1"/>
          <p:nvPr/>
        </p:nvSpPr>
        <p:spPr>
          <a:xfrm>
            <a:off x="3512263" y="168655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Визуал:</a:t>
            </a:r>
            <a:r>
              <a:rPr lang="ru-RU" dirty="0"/>
              <a:t> Иконка «дорожной карты» (</a:t>
            </a:r>
            <a:r>
              <a:rPr lang="ru-RU" dirty="0" err="1"/>
              <a:t>Roadmap</a:t>
            </a:r>
            <a:r>
              <a:rPr lang="ru-RU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61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482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Константин Демидов</dc:creator>
  <cp:lastModifiedBy>Константин Демидов</cp:lastModifiedBy>
  <cp:revision>45</cp:revision>
  <dcterms:created xsi:type="dcterms:W3CDTF">2026-01-20T13:33:12Z</dcterms:created>
  <dcterms:modified xsi:type="dcterms:W3CDTF">2026-02-03T03:00:42Z</dcterms:modified>
</cp:coreProperties>
</file>